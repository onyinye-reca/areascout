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2.png"/><Relationship Id="rId8" Type="http://schemas.openxmlformats.org/officeDocument/2006/relationships/image" Target="../media/image-4-8.png"/><Relationship Id="rId9" Type="http://schemas.openxmlformats.org/officeDocument/2006/relationships/image" Target="../media/image-4-2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640080"/>
            <a:ext cx="658368" cy="65836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pitch_deck/icons/mappin_0B2B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948" y="725668"/>
            <a:ext cx="487192" cy="487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AREASCOUT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neighbourhood before you sign the lease.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66928" y="3977640"/>
            <a:ext cx="2926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Student(s)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J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Project Management Assignment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Renting is a leap of faith — it shouldn't be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tenants rely on agents and informal, word-of-mouth sources when searching for accommodation.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no reliable way to check a neighbourhood's power supply, flooding risk, security, transport links, water quality, or internet access — before they pay.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5943600" cy="1417320"/>
          </a:xfrm>
          <a:prstGeom prst="roundRect">
            <a:avLst>
              <a:gd name="adj" fmla="val 7742"/>
            </a:avLst>
          </a:prstGeom>
          <a:solidFill>
            <a:srgbClr val="EAF4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041648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many Nigerian cities, tenants routinely pay a full year's rent upfront — with no verified way to confirm the property or the surrounding area before handing over the money.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03720" y="214884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23317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/home/claude/pitch_deck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0301" y="2405421"/>
            <a:ext cx="419527" cy="41952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818120" y="2258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Prospective tenants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7818120" y="2587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for their next home, city or town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03720" y="3291840"/>
            <a:ext cx="47548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86600" y="34747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/home/claude/pitch_deck/icons/hom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301" y="3548421"/>
            <a:ext cx="419527" cy="41952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818120" y="34015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Landlords &amp; agents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818120" y="37307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struggling to reach serious, verified renters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03720" y="448056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178040" y="461772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costly relocation mistakes, and rental decisions made in the dark.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to find, verify and understand a home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</a:t>
            </a:r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rental and neighbourhood-intelligence platform where tenants can find, compare, verify and understand an apartment — and its surroundings — before paying.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611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108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itch_deck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3210001"/>
            <a:ext cx="575158" cy="5751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453128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Tenants, Landlords and Agents — three account types, one shared marketplace.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2788920"/>
            <a:ext cx="3611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31089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pitch_deck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641" y="321000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060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00600" y="4453128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and compare verified listings against real neighbourhood conditions.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412480" y="2788920"/>
            <a:ext cx="3611880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732520" y="3108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pitch_deck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561" y="3210001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32520" y="4023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helps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732520" y="4453128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guesswork and word-of-mouth with verified data before money changes hands.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search to move-in, in six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91840" y="20756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/home/claude/pitch_deck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7220" y="2141068"/>
            <a:ext cx="372161" cy="3721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743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choose role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Tenant, Landlord or Agent</a:t>
            </a:r>
            <a:endParaRPr lang="en-US" sz="1200" dirty="0"/>
          </a:p>
        </p:txBody>
      </p:sp>
      <p:pic>
        <p:nvPicPr>
          <p:cNvPr id="11" name="Image 1" descr="/home/claude/pitch_deck/icons/arrow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2738628"/>
            <a:ext cx="219456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25112" y="1874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53712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5371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068312" y="20756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itch_deck/icons/sear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692" y="2141068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553712" y="2743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4553712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price, type, rooms</a:t>
            </a:r>
            <a:endParaRPr lang="en-US" sz="1200" dirty="0"/>
          </a:p>
        </p:txBody>
      </p:sp>
      <p:pic>
        <p:nvPicPr>
          <p:cNvPr id="19" name="Image 3" descr="/home/claude/pitch_deck/icons/arrow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738628"/>
            <a:ext cx="219456" cy="237744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101584" y="1874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330184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33018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10844784" y="20756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4" descr="/home/claude/pitch_deck/icons/mappin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0164" y="2141068"/>
            <a:ext cx="372161" cy="37216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330184" y="2743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property + area insights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8330184" y="3246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cost, neighbourhood ratings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48640" y="4160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7772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3291840" y="43616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/home/claude/pitch_deck/icons/calend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7220" y="4427068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77240" y="5029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inspection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777240" y="5532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visit directly</a:t>
            </a:r>
            <a:endParaRPr lang="en-US" sz="1200" dirty="0"/>
          </a:p>
        </p:txBody>
      </p:sp>
      <p:pic>
        <p:nvPicPr>
          <p:cNvPr id="34" name="Image 6" descr="/home/claude/pitch_deck/icons/arrow_02809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87368" y="5024628"/>
            <a:ext cx="219456" cy="237744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4325112" y="4160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4553712" y="4389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28"/>
          <p:cNvSpPr txBox="1"/>
          <p:nvPr/>
        </p:nvSpPr>
        <p:spPr>
          <a:xfrm>
            <a:off x="4553712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29"/>
          <p:cNvSpPr/>
          <p:nvPr/>
        </p:nvSpPr>
        <p:spPr>
          <a:xfrm>
            <a:off x="7068312" y="43616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9" name="Image 7" descr="/home/claude/pitch_deck/icons/arrow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3692" y="4427068"/>
            <a:ext cx="372161" cy="372161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4553712" y="5029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negotiate</a:t>
            </a:r>
            <a:endParaRPr lang="en-US" sz="1450" dirty="0"/>
          </a:p>
        </p:txBody>
      </p:sp>
      <p:sp>
        <p:nvSpPr>
          <p:cNvPr id="41" name="Text 31"/>
          <p:cNvSpPr txBox="1"/>
          <p:nvPr/>
        </p:nvSpPr>
        <p:spPr>
          <a:xfrm>
            <a:off x="4553712" y="5532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landlord / agent line</a:t>
            </a:r>
            <a:endParaRPr lang="en-US" sz="1200" dirty="0"/>
          </a:p>
        </p:txBody>
      </p:sp>
      <p:pic>
        <p:nvPicPr>
          <p:cNvPr id="42" name="Image 8" descr="/home/claude/pitch_deck/icons/arrow_02809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0" y="5024628"/>
            <a:ext cx="219456" cy="237744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8101584" y="41605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8330184" y="4389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5" name="Text 34"/>
          <p:cNvSpPr txBox="1"/>
          <p:nvPr/>
        </p:nvSpPr>
        <p:spPr>
          <a:xfrm>
            <a:off x="8330184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Shape 35"/>
          <p:cNvSpPr/>
          <p:nvPr/>
        </p:nvSpPr>
        <p:spPr>
          <a:xfrm>
            <a:off x="10844784" y="43616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47" name="Image 9" descr="/home/claude/pitch_deck/icons/check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0164" y="4427068"/>
            <a:ext cx="372161" cy="372161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8330184" y="50292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review or report</a:t>
            </a:r>
            <a:endParaRPr lang="en-US" sz="1450" dirty="0"/>
          </a:p>
        </p:txBody>
      </p:sp>
      <p:sp>
        <p:nvSpPr>
          <p:cNvPr id="49" name="Text 37"/>
          <p:cNvSpPr txBox="1"/>
          <p:nvPr/>
        </p:nvSpPr>
        <p:spPr>
          <a:xfrm>
            <a:off x="8330184" y="55321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Favourite listings, rate, flag issues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51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&amp; TIMELINE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first — and when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160520" cy="2606040"/>
          </a:xfrm>
          <a:prstGeom prst="roundRect">
            <a:avLst>
              <a:gd name="adj" fmla="val 4211"/>
            </a:avLst>
          </a:prstGeom>
          <a:solidFill>
            <a:srgbClr val="EAF4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(THIS PHASE)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3749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(Tenant / Landlord / Agent)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listings, search &amp; filters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intelligence &amp; ratings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scheduling &amp; contact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Save, review &amp; report tools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92040" y="1783080"/>
            <a:ext cx="37947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(FOR NOW)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240280"/>
            <a:ext cx="3383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construction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inspection / security services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installation or maintenance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or mortgage services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✕"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ownership transfer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0" y="1783080"/>
            <a:ext cx="2788920" cy="260604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006840" y="19659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BF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32461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· 40 working days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kickoff to launch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4965192"/>
            <a:ext cx="9966960" cy="0"/>
          </a:xfrm>
          <a:prstGeom prst="line">
            <a:avLst/>
          </a:prstGeom>
          <a:noFill/>
          <a:ln w="25400">
            <a:solidFill>
              <a:srgbClr val="C7DE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84632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5148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" y="54223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&amp; Planning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0148" y="484632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8940" y="5148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720340" y="54223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Design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61888" y="484632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5148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W3-6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54223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(MVP)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53628" y="484632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32420" y="5148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W6-7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03820" y="54223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945368" y="4846320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24160" y="51480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95560" y="5422392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UAT, Launch &amp; Closure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RESOURCES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building it, and what we're working with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ROLES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16352" y="2148840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7792" y="2148840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84064" y="2148840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75504" y="2148840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&amp; Communication Lead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90088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Delivery Lead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16352" y="2990088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07792" y="2990088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Research Lead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84064" y="2990088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75504" y="2990088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831336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 Developer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16352" y="3831336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07792" y="3831336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Administrator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84064" y="3831336"/>
            <a:ext cx="2139696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75504" y="3831336"/>
            <a:ext cx="19568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Tester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0" y="1783080"/>
            <a:ext cx="4069080" cy="2743200"/>
          </a:xfrm>
          <a:prstGeom prst="roundRect">
            <a:avLst>
              <a:gd name="adj" fmla="val 4000"/>
            </a:avLst>
          </a:prstGeom>
          <a:solidFill>
            <a:srgbClr val="EA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81812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818120" y="224028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workstations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server infrastructure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testing tools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tools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8889"/>
            </a:avLst>
          </a:prstGeom>
          <a:solidFill>
            <a:srgbClr val="0B2B30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489204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8" name="Image 0" descr="/home/claude/pitch_deck/icons/alert_0B2B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4965741"/>
            <a:ext cx="419527" cy="419527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508760" y="4864608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constraints we're managing: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 project budget, a small development team, and an ambitious 2-month delivery window — prioritised through a phased, MVP-first Agile approach.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CHALLENGES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 — and our plan for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pitch_deck/icons/fla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186330"/>
            <a:ext cx="473659" cy="47365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26080" y="221284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926080" y="221284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property listings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3456432"/>
            <a:ext cx="3063240" cy="0"/>
          </a:xfrm>
          <a:prstGeom prst="line">
            <a:avLst/>
          </a:prstGeom>
          <a:noFill/>
          <a:ln w="12700">
            <a:solidFill>
              <a:srgbClr val="EAEF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58444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877056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verification workflow + user reporting mechanism before publication.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6118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1031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5" name="Image 1" descr="/home/claude/pitch_deck/icons/mapp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090" y="2186330"/>
            <a:ext cx="473659" cy="47365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858000" y="221284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858000" y="221284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4754880" y="2880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neighbourhood data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754880" y="3456432"/>
            <a:ext cx="3063240" cy="0"/>
          </a:xfrm>
          <a:prstGeom prst="line">
            <a:avLst/>
          </a:prstGeom>
          <a:noFill/>
          <a:ln w="12700">
            <a:solidFill>
              <a:srgbClr val="EAEFEE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0" y="358444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4754880" y="3877056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data sources plus ongoing user feedback and ratings.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8412480" y="1828800"/>
            <a:ext cx="361188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686800" y="210312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4" name="Image 2" descr="/home/claude/pitch_deck/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010" y="2186330"/>
            <a:ext cx="473659" cy="473659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0789920" y="2212848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FBEAEA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0789920" y="221284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8686800" y="28803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threats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8686800" y="3456432"/>
            <a:ext cx="3063240" cy="0"/>
          </a:xfrm>
          <a:prstGeom prst="line">
            <a:avLst/>
          </a:prstGeom>
          <a:noFill/>
          <a:ln w="12700">
            <a:solidFill>
              <a:srgbClr val="EAEFEE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686800" y="358444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8686800" y="3877056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authentication, encrypted data handling, and access controls.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already in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109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itch_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" y="21465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02082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approved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86584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objectives, stakeholders, risks and success criteria defined.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11109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329184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itch_deck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94" y="338099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25526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 complete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621024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phase-by-phase breakdown with owners and an 8-week schedule.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11109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45262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itch_deck/icon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394" y="461543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4897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framed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855464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 set and in/out-of-scope boundaries agreed with the team.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62356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detailed UI/UX design and the start of MVP development.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AreaScout is worth building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75688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itch_deck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" y="2164842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8803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319272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confident decisions with verified property and neighbourhood data — before paying a deposit.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4773168" y="2075688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pitch_deck/icons/home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322" y="2164842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73168" y="28803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Landlords &amp; Agents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4773168" y="3319272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3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serious, informed renters faster, with fewer wasted viewings and disputes.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0" y="1783080"/>
            <a:ext cx="36118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05088" y="2075688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itch_deck/icons/trend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4242" y="2164842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05088" y="288036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rental market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8705088" y="3319272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transparent, trustworthy ecosystem where good information is the default, not the exception.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343400"/>
            <a:ext cx="11109960" cy="1188720"/>
          </a:xfrm>
          <a:prstGeom prst="roundRect">
            <a:avLst>
              <a:gd name="adj" fmla="val 9231"/>
            </a:avLst>
          </a:prstGeom>
          <a:solidFill>
            <a:srgbClr val="0B2B30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saved.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 reduced. 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gained.  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turns one of the most stressful financial decisions renters make into an informed one.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PRODUCT?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now, and why it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3794760"/>
          </a:xfrm>
          <a:prstGeom prst="roundRect">
            <a:avLst>
              <a:gd name="adj" fmla="val 3544"/>
            </a:avLst>
          </a:prstGeom>
          <a:solidFill>
            <a:srgbClr val="0F3B41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1945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/home/claude/pitch_deck/icons/zap_0F3B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289" y="2295601"/>
            <a:ext cx="575158" cy="5751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41248" y="3154680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 rental demand is rising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3931920"/>
            <a:ext cx="302666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people are moving cities every year — with less first-hand local knowledge than ever.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1874520"/>
            <a:ext cx="3611880" cy="3794760"/>
          </a:xfrm>
          <a:prstGeom prst="roundRect">
            <a:avLst>
              <a:gd name="adj" fmla="val 3544"/>
            </a:avLst>
          </a:prstGeom>
          <a:solidFill>
            <a:srgbClr val="0F3B41"/>
          </a:solidFill>
          <a:ln/>
        </p:spPr>
      </p:sp>
      <p:sp>
        <p:nvSpPr>
          <p:cNvPr id="11" name="Shape 8"/>
          <p:cNvSpPr/>
          <p:nvPr/>
        </p:nvSpPr>
        <p:spPr>
          <a:xfrm>
            <a:off x="4773168" y="21945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/home/claude/pitch_deck/icons/eye_0F3B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209" y="229560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73168" y="3154680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Rental decisions stay opaque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773168" y="3931920"/>
            <a:ext cx="302666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renters still depend on agents and hearsay for one of their biggest annual expenses.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412480" y="1874520"/>
            <a:ext cx="3611880" cy="3794760"/>
          </a:xfrm>
          <a:prstGeom prst="roundRect">
            <a:avLst>
              <a:gd name="adj" fmla="val 3544"/>
            </a:avLst>
          </a:prstGeom>
          <a:solidFill>
            <a:srgbClr val="0F3B41"/>
          </a:solidFill>
          <a:ln/>
        </p:spPr>
      </p:sp>
      <p:sp>
        <p:nvSpPr>
          <p:cNvPr id="16" name="Shape 12"/>
          <p:cNvSpPr/>
          <p:nvPr/>
        </p:nvSpPr>
        <p:spPr>
          <a:xfrm>
            <a:off x="8705088" y="21945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/home/claude/pitch_deck/icons/heart_0F3B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129" y="2295601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705088" y="3154680"/>
            <a:ext cx="302666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is the real product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705088" y="3931920"/>
            <a:ext cx="302666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verified, transparent source protects people from costly, avoidable mistakes.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after this pitch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/home/claude/pitch_deck/icons/too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3163" y="2128723"/>
            <a:ext cx="405994" cy="4059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UI/UX design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agreed requirements into wireframes and a clickable prototype.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1783080"/>
            <a:ext cx="36118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5488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223760" y="2057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1" descr="/home/claude/pitch_deck/icons/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083" y="2128723"/>
            <a:ext cx="405994" cy="40599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5488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partnerships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475488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sources for reliable neighbourhood data (utilities, security, transport).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412480" y="1783080"/>
            <a:ext cx="361188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686800" y="2057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86868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1155680" y="20574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2" descr="/home/claude/pitch_deck/icons/targ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7003" y="2128723"/>
            <a:ext cx="405994" cy="40599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686800" y="269748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MVP development</a:t>
            </a:r>
            <a:endParaRPr lang="en-US" sz="1550" dirty="0"/>
          </a:p>
        </p:txBody>
      </p:sp>
      <p:sp>
        <p:nvSpPr>
          <p:cNvPr id="24" name="Text 19"/>
          <p:cNvSpPr txBox="1"/>
          <p:nvPr/>
        </p:nvSpPr>
        <p:spPr>
          <a:xfrm>
            <a:off x="868680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the priority build: auth, listings, search, and neighbourhood info.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4160520"/>
            <a:ext cx="11109960" cy="1325880"/>
          </a:xfrm>
          <a:prstGeom prst="roundRect">
            <a:avLst>
              <a:gd name="adj" fmla="val 8276"/>
            </a:avLst>
          </a:prstGeom>
          <a:solidFill>
            <a:srgbClr val="028090"/>
          </a:solidFill>
          <a:ln/>
        </p:spPr>
      </p:sp>
      <p:sp>
        <p:nvSpPr>
          <p:cNvPr id="26" name="Shape 21"/>
          <p:cNvSpPr/>
          <p:nvPr/>
        </p:nvSpPr>
        <p:spPr>
          <a:xfrm>
            <a:off x="777240" y="437083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/home/claude/pitch_deck/icons/arrow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41" y="4444533"/>
            <a:ext cx="419527" cy="419527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508760" y="434340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for:  </a:t>
            </a:r>
            <a:pPr indent="0" marL="0">
              <a:buNone/>
            </a:pPr>
            <a:r>
              <a:rPr lang="en-US" sz="1350" dirty="0">
                <a:solidFill>
                  <a:srgbClr val="E3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on our MVP priorities, guidance on sourcing reliable neighbourhood data, and mentorship as we move into design and build.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4368" y="17373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pitch_deck/icons/heart_0B2B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352" y="18443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788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AreaScout  ·  Group J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B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neighbourhood before you sign the lease.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2026-09-15T09:36:23Z</dcterms:created>
  <dcterms:modified xsi:type="dcterms:W3CDTF">2026-09-15T09:36:23Z</dcterms:modified>
</cp:coreProperties>
</file>